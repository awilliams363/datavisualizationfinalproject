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3"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94"/>
    <p:restoredTop sz="94847"/>
  </p:normalViewPr>
  <p:slideViewPr>
    <p:cSldViewPr snapToGrid="0">
      <p:cViewPr>
        <p:scale>
          <a:sx n="88" d="100"/>
          <a:sy n="88" d="100"/>
        </p:scale>
        <p:origin x="-88"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4/29/25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4/29/25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4/29/25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hyperlink" Target="https://www.kaggle.com/datasets/atharvasoundankar/smart-farming-sensor-data-for-yield-prediction" TargetMode="External"/><Relationship Id="rId5" Type="http://schemas.openxmlformats.org/officeDocument/2006/relationships/hyperlink" Target="https://www.nifa.usda.gov/topics/pest-management" TargetMode="External"/><Relationship Id="rId4" Type="http://schemas.openxmlformats.org/officeDocument/2006/relationships/hyperlink" Target="https://www.epa.gov/minimum-risk-pesticides/what-pesticide"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71A6-C8D1-E73C-A892-54E77D252886}"/>
              </a:ext>
            </a:extLst>
          </p:cNvPr>
          <p:cNvSpPr>
            <a:spLocks noGrp="1"/>
          </p:cNvSpPr>
          <p:nvPr>
            <p:ph type="ctrTitle"/>
          </p:nvPr>
        </p:nvSpPr>
        <p:spPr/>
        <p:txBody>
          <a:bodyPr>
            <a:normAutofit fontScale="90000"/>
          </a:bodyPr>
          <a:lstStyle/>
          <a:p>
            <a:r>
              <a:rPr lang="en-US" dirty="0"/>
              <a:t>A Comparison of United States Crop Yields and Crop Disease Status Based on Pesticide Usage Levels</a:t>
            </a:r>
          </a:p>
        </p:txBody>
      </p:sp>
      <p:sp>
        <p:nvSpPr>
          <p:cNvPr id="3" name="Subtitle 2">
            <a:extLst>
              <a:ext uri="{FF2B5EF4-FFF2-40B4-BE49-F238E27FC236}">
                <a16:creationId xmlns:a16="http://schemas.microsoft.com/office/drawing/2014/main" id="{1CE6C7E7-2493-5EDA-FBCC-718DAB94518B}"/>
              </a:ext>
            </a:extLst>
          </p:cNvPr>
          <p:cNvSpPr>
            <a:spLocks noGrp="1"/>
          </p:cNvSpPr>
          <p:nvPr>
            <p:ph type="subTitle" idx="1"/>
          </p:nvPr>
        </p:nvSpPr>
        <p:spPr/>
        <p:txBody>
          <a:bodyPr/>
          <a:lstStyle/>
          <a:p>
            <a:r>
              <a:rPr lang="en-US" dirty="0"/>
              <a:t>CSC 4730: Data Visualization </a:t>
            </a:r>
          </a:p>
          <a:p>
            <a:r>
              <a:rPr lang="en-US" dirty="0"/>
              <a:t>Angel Williams </a:t>
            </a:r>
          </a:p>
          <a:p>
            <a:r>
              <a:rPr lang="en-US" dirty="0"/>
              <a:t>Final Project </a:t>
            </a:r>
          </a:p>
          <a:p>
            <a:endParaRPr lang="en-US" dirty="0"/>
          </a:p>
        </p:txBody>
      </p:sp>
      <p:pic>
        <p:nvPicPr>
          <p:cNvPr id="81" name="Audio 80">
            <a:extLst>
              <a:ext uri="{FF2B5EF4-FFF2-40B4-BE49-F238E27FC236}">
                <a16:creationId xmlns:a16="http://schemas.microsoft.com/office/drawing/2014/main" id="{5E66EECE-BEAA-5B5F-5B4F-DA506C09857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33988376"/>
      </p:ext>
    </p:extLst>
  </p:cSld>
  <p:clrMapOvr>
    <a:masterClrMapping/>
  </p:clrMapOvr>
  <mc:AlternateContent xmlns:mc="http://schemas.openxmlformats.org/markup-compatibility/2006">
    <mc:Choice xmlns:p14="http://schemas.microsoft.com/office/powerpoint/2010/main" Requires="p14">
      <p:transition spd="slow" p14:dur="2000" advTm="14994"/>
    </mc:Choice>
    <mc:Fallback>
      <p:transition spd="slow" advTm="149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6A5A-176A-D5FF-8EAE-7F212C870D3A}"/>
              </a:ext>
            </a:extLst>
          </p:cNvPr>
          <p:cNvSpPr>
            <a:spLocks noGrp="1"/>
          </p:cNvSpPr>
          <p:nvPr>
            <p:ph type="title"/>
          </p:nvPr>
        </p:nvSpPr>
        <p:spPr/>
        <p:txBody>
          <a:bodyPr/>
          <a:lstStyle/>
          <a:p>
            <a:r>
              <a:rPr lang="en-US" dirty="0"/>
              <a:t>Problem and Motivation</a:t>
            </a:r>
          </a:p>
        </p:txBody>
      </p:sp>
      <p:sp>
        <p:nvSpPr>
          <p:cNvPr id="3" name="Content Placeholder 2">
            <a:extLst>
              <a:ext uri="{FF2B5EF4-FFF2-40B4-BE49-F238E27FC236}">
                <a16:creationId xmlns:a16="http://schemas.microsoft.com/office/drawing/2014/main" id="{463A81B4-096B-B6A9-2D9C-B7D522084F2A}"/>
              </a:ext>
            </a:extLst>
          </p:cNvPr>
          <p:cNvSpPr>
            <a:spLocks noGrp="1"/>
          </p:cNvSpPr>
          <p:nvPr>
            <p:ph idx="1"/>
          </p:nvPr>
        </p:nvSpPr>
        <p:spPr>
          <a:xfrm>
            <a:off x="5191383" y="964986"/>
            <a:ext cx="6281873" cy="5248622"/>
          </a:xfrm>
        </p:spPr>
        <p:txBody>
          <a:bodyPr anchor="t">
            <a:normAutofit fontScale="92500"/>
          </a:bodyPr>
          <a:lstStyle/>
          <a:p>
            <a:r>
              <a:rPr lang="en-US" sz="2000" dirty="0"/>
              <a:t>Pesticides are defined by the EPA as, “Any substance or mixture of substances intended for preventing, destroying, repelling, or mitigating any pest.”</a:t>
            </a:r>
          </a:p>
          <a:p>
            <a:r>
              <a:rPr lang="en-US" sz="2000" dirty="0"/>
              <a:t>The USDA asserts that damage from pests can often result in "adverse impacts...[such as]:...Damage to crops...[and] Disease and quality of life impacts in populated areas. </a:t>
            </a:r>
          </a:p>
          <a:p>
            <a:r>
              <a:rPr lang="en-US" sz="2000" dirty="0"/>
              <a:t>Problem: Pesticides are known to cause health problems for consumers. Despite the risks, pesticides are often used in commercial agriculture for the reasons defined by the EPA and the USDA.  I am seeking to observe the effectiveness of pesticide usage, which could assist in deciding whether the benefits of pesticide use outweigh the risks. </a:t>
            </a:r>
            <a:endParaRPr lang="en-US" dirty="0"/>
          </a:p>
          <a:p>
            <a:endParaRPr lang="en-US" dirty="0"/>
          </a:p>
          <a:p>
            <a:endParaRPr lang="en-US" dirty="0"/>
          </a:p>
        </p:txBody>
      </p:sp>
      <p:pic>
        <p:nvPicPr>
          <p:cNvPr id="72" name="Audio 71">
            <a:extLst>
              <a:ext uri="{FF2B5EF4-FFF2-40B4-BE49-F238E27FC236}">
                <a16:creationId xmlns:a16="http://schemas.microsoft.com/office/drawing/2014/main" id="{11C3D997-14DB-1BA4-7D8E-ECD23E4517A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218548"/>
      </p:ext>
    </p:extLst>
  </p:cSld>
  <p:clrMapOvr>
    <a:masterClrMapping/>
  </p:clrMapOvr>
  <mc:AlternateContent xmlns:mc="http://schemas.openxmlformats.org/markup-compatibility/2006">
    <mc:Choice xmlns:p14="http://schemas.microsoft.com/office/powerpoint/2010/main" Requires="p14">
      <p:transition spd="slow" p14:dur="2000" advTm="43655"/>
    </mc:Choice>
    <mc:Fallback>
      <p:transition spd="slow" advTm="436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E406-4024-D44B-8267-62A7203E3A6D}"/>
              </a:ext>
            </a:extLst>
          </p:cNvPr>
          <p:cNvSpPr>
            <a:spLocks noGrp="1"/>
          </p:cNvSpPr>
          <p:nvPr>
            <p:ph type="title"/>
          </p:nvPr>
        </p:nvSpPr>
        <p:spPr/>
        <p:txBody>
          <a:bodyPr/>
          <a:lstStyle/>
          <a:p>
            <a:r>
              <a:rPr lang="en-US" dirty="0"/>
              <a:t>Research Question &amp; Claims</a:t>
            </a:r>
          </a:p>
        </p:txBody>
      </p:sp>
      <p:sp>
        <p:nvSpPr>
          <p:cNvPr id="3" name="Content Placeholder 2">
            <a:extLst>
              <a:ext uri="{FF2B5EF4-FFF2-40B4-BE49-F238E27FC236}">
                <a16:creationId xmlns:a16="http://schemas.microsoft.com/office/drawing/2014/main" id="{5D374388-919E-5509-A5FF-DCA3F37ADD12}"/>
              </a:ext>
            </a:extLst>
          </p:cNvPr>
          <p:cNvSpPr>
            <a:spLocks noGrp="1"/>
          </p:cNvSpPr>
          <p:nvPr>
            <p:ph idx="1"/>
          </p:nvPr>
        </p:nvSpPr>
        <p:spPr>
          <a:xfrm>
            <a:off x="5196506" y="624468"/>
            <a:ext cx="6281873" cy="6531311"/>
          </a:xfrm>
        </p:spPr>
        <p:txBody>
          <a:bodyPr>
            <a:normAutofit fontScale="92500"/>
          </a:bodyPr>
          <a:lstStyle/>
          <a:p>
            <a:r>
              <a:rPr lang="en-US" sz="2100" dirty="0"/>
              <a:t>Question: Do crops grown within the United States experience </a:t>
            </a:r>
            <a:r>
              <a:rPr lang="en-US" sz="2100" u="sng" dirty="0"/>
              <a:t>both</a:t>
            </a:r>
            <a:r>
              <a:rPr lang="en-US" sz="2100" dirty="0"/>
              <a:t>: a crop yield that is at or above the average and a crop disease status of mild or lower (None), when pesticide usage levels are at or above the United States’ average usage level? </a:t>
            </a:r>
          </a:p>
          <a:p>
            <a:r>
              <a:rPr lang="en-US" sz="2100" dirty="0"/>
              <a:t>Hypothesis0: Crops grown within the United States </a:t>
            </a:r>
            <a:r>
              <a:rPr lang="en-US" sz="2100" dirty="0">
                <a:solidFill>
                  <a:srgbClr val="00B050"/>
                </a:solidFill>
              </a:rPr>
              <a:t>do</a:t>
            </a:r>
            <a:r>
              <a:rPr lang="en-US" sz="2100" dirty="0"/>
              <a:t> experience both: a crop yield that is at or above the average and a crop disease status of mild or lower (None), when pesticide usage levels are at or above the United States’ average usage level</a:t>
            </a:r>
          </a:p>
          <a:p>
            <a:r>
              <a:rPr lang="en-US" sz="2100" dirty="0" err="1"/>
              <a:t>HypothesisA</a:t>
            </a:r>
            <a:r>
              <a:rPr lang="en-US" sz="2100" dirty="0"/>
              <a:t>: Crops grown within the United States </a:t>
            </a:r>
            <a:r>
              <a:rPr lang="en-US" sz="2100" dirty="0">
                <a:solidFill>
                  <a:schemeClr val="accent1"/>
                </a:solidFill>
              </a:rPr>
              <a:t>do not  </a:t>
            </a:r>
            <a:r>
              <a:rPr lang="en-US" sz="2100" dirty="0"/>
              <a:t>experience both: a crop yield that is at or above the average and a crop disease status of mild or lower (None), when pesticide usage levels are at or above the United States’ average usage level</a:t>
            </a:r>
          </a:p>
          <a:p>
            <a:endParaRPr lang="en-US" sz="1800" dirty="0"/>
          </a:p>
          <a:p>
            <a:endParaRPr lang="en-US" dirty="0"/>
          </a:p>
        </p:txBody>
      </p:sp>
      <p:pic>
        <p:nvPicPr>
          <p:cNvPr id="73" name="Audio 72">
            <a:extLst>
              <a:ext uri="{FF2B5EF4-FFF2-40B4-BE49-F238E27FC236}">
                <a16:creationId xmlns:a16="http://schemas.microsoft.com/office/drawing/2014/main" id="{6AF2DC5A-1851-D8AC-D003-4B3EABD18AB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231817942"/>
      </p:ext>
    </p:extLst>
  </p:cSld>
  <p:clrMapOvr>
    <a:masterClrMapping/>
  </p:clrMapOvr>
  <mc:AlternateContent xmlns:mc="http://schemas.openxmlformats.org/markup-compatibility/2006">
    <mc:Choice xmlns:p14="http://schemas.microsoft.com/office/powerpoint/2010/main" Requires="p14">
      <p:transition spd="slow" p14:dur="2000" advTm="70982"/>
    </mc:Choice>
    <mc:Fallback>
      <p:transition spd="slow" advTm="709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15918-B678-9B1C-6EC2-2A1B279776F8}"/>
              </a:ext>
            </a:extLst>
          </p:cNvPr>
          <p:cNvSpPr>
            <a:spLocks noGrp="1"/>
          </p:cNvSpPr>
          <p:nvPr>
            <p:ph type="title"/>
          </p:nvPr>
        </p:nvSpPr>
        <p:spPr/>
        <p:txBody>
          <a:bodyPr/>
          <a:lstStyle/>
          <a:p>
            <a:r>
              <a:rPr lang="en-US" dirty="0"/>
              <a:t>Data Sources</a:t>
            </a:r>
          </a:p>
        </p:txBody>
      </p:sp>
      <p:sp>
        <p:nvSpPr>
          <p:cNvPr id="3" name="Content Placeholder 2">
            <a:extLst>
              <a:ext uri="{FF2B5EF4-FFF2-40B4-BE49-F238E27FC236}">
                <a16:creationId xmlns:a16="http://schemas.microsoft.com/office/drawing/2014/main" id="{1F3D1458-0FEB-702E-A080-77469F17ED00}"/>
              </a:ext>
            </a:extLst>
          </p:cNvPr>
          <p:cNvSpPr>
            <a:spLocks noGrp="1"/>
          </p:cNvSpPr>
          <p:nvPr>
            <p:ph idx="1"/>
          </p:nvPr>
        </p:nvSpPr>
        <p:spPr/>
        <p:txBody>
          <a:bodyPr anchor="t"/>
          <a:lstStyle/>
          <a:p>
            <a:r>
              <a:rPr lang="en-US" dirty="0"/>
              <a:t>EPA: </a:t>
            </a:r>
            <a:r>
              <a:rPr lang="en-US" dirty="0">
                <a:hlinkClick r:id="rId4"/>
              </a:rPr>
              <a:t>https://www.epa.gov/minimum-risk-pesticides/what-pesticide</a:t>
            </a:r>
            <a:r>
              <a:rPr lang="en-US" dirty="0"/>
              <a:t> </a:t>
            </a:r>
          </a:p>
          <a:p>
            <a:r>
              <a:rPr lang="en-US" dirty="0"/>
              <a:t>USDA: </a:t>
            </a:r>
            <a:r>
              <a:rPr lang="en-US" dirty="0">
                <a:hlinkClick r:id="rId5"/>
              </a:rPr>
              <a:t>https://www.nifa.usda.gov/topics/pest-management</a:t>
            </a:r>
            <a:r>
              <a:rPr lang="en-US" dirty="0"/>
              <a:t> </a:t>
            </a:r>
          </a:p>
          <a:p>
            <a:r>
              <a:rPr lang="en-US" dirty="0" err="1"/>
              <a:t>Dataset:</a:t>
            </a:r>
            <a:r>
              <a:rPr lang="en-US" dirty="0" err="1">
                <a:hlinkClick r:id="rId6"/>
              </a:rPr>
              <a:t>https</a:t>
            </a:r>
            <a:r>
              <a:rPr lang="en-US" dirty="0">
                <a:hlinkClick r:id="rId6"/>
              </a:rPr>
              <a:t>://www.kaggle.com/datasets/atharvasoundankar/smart-farming-sensor-data-for-yield-prediction</a:t>
            </a:r>
            <a:endParaRPr lang="en-US" dirty="0"/>
          </a:p>
          <a:p>
            <a:r>
              <a:rPr lang="en-US" dirty="0"/>
              <a:t>This dataset is a simulation of real-world smart farming operations. </a:t>
            </a:r>
          </a:p>
          <a:p>
            <a:r>
              <a:rPr lang="en-US" dirty="0"/>
              <a:t>The observations based on this dataset are not accurate to real-world data.  </a:t>
            </a:r>
          </a:p>
          <a:p>
            <a:r>
              <a:rPr lang="en-US" dirty="0"/>
              <a:t>However, the simulated data establishes a premise of what could be analyzed for observation after real-world data collection is performed. </a:t>
            </a:r>
          </a:p>
          <a:p>
            <a:endParaRPr lang="en-US" dirty="0"/>
          </a:p>
          <a:p>
            <a:endParaRPr lang="en-US" dirty="0"/>
          </a:p>
          <a:p>
            <a:endParaRPr lang="en-US" dirty="0"/>
          </a:p>
          <a:p>
            <a:endParaRPr lang="en-US" dirty="0"/>
          </a:p>
        </p:txBody>
      </p:sp>
      <p:pic>
        <p:nvPicPr>
          <p:cNvPr id="48" name="Audio 47">
            <a:extLst>
              <a:ext uri="{FF2B5EF4-FFF2-40B4-BE49-F238E27FC236}">
                <a16:creationId xmlns:a16="http://schemas.microsoft.com/office/drawing/2014/main" id="{436B5F0A-FBA2-F174-77A8-7C1BB552909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75325963"/>
      </p:ext>
    </p:extLst>
  </p:cSld>
  <p:clrMapOvr>
    <a:masterClrMapping/>
  </p:clrMapOvr>
  <mc:AlternateContent xmlns:mc="http://schemas.openxmlformats.org/markup-compatibility/2006">
    <mc:Choice xmlns:p14="http://schemas.microsoft.com/office/powerpoint/2010/main" Requires="p14">
      <p:transition spd="slow" p14:dur="2000" advTm="30723"/>
    </mc:Choice>
    <mc:Fallback>
      <p:transition spd="slow" advTm="307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5FBB-88F0-7F03-DA6D-60FA67AAEBFF}"/>
              </a:ext>
            </a:extLst>
          </p:cNvPr>
          <p:cNvSpPr>
            <a:spLocks noGrp="1"/>
          </p:cNvSpPr>
          <p:nvPr>
            <p:ph type="title"/>
          </p:nvPr>
        </p:nvSpPr>
        <p:spPr/>
        <p:txBody>
          <a:bodyPr/>
          <a:lstStyle/>
          <a:p>
            <a:r>
              <a:rPr lang="en-US" dirty="0"/>
              <a:t>Data Wrangling </a:t>
            </a:r>
          </a:p>
        </p:txBody>
      </p:sp>
      <p:sp>
        <p:nvSpPr>
          <p:cNvPr id="3" name="Content Placeholder 2">
            <a:extLst>
              <a:ext uri="{FF2B5EF4-FFF2-40B4-BE49-F238E27FC236}">
                <a16:creationId xmlns:a16="http://schemas.microsoft.com/office/drawing/2014/main" id="{A0336E48-1A7D-19BB-EB03-5972FF32C75D}"/>
              </a:ext>
            </a:extLst>
          </p:cNvPr>
          <p:cNvSpPr>
            <a:spLocks noGrp="1"/>
          </p:cNvSpPr>
          <p:nvPr>
            <p:ph idx="1"/>
          </p:nvPr>
        </p:nvSpPr>
        <p:spPr/>
        <p:txBody>
          <a:bodyPr anchor="t">
            <a:normAutofit/>
          </a:bodyPr>
          <a:lstStyle/>
          <a:p>
            <a:r>
              <a:rPr lang="en-US" dirty="0"/>
              <a:t>Preparing the dataset for visualizations and calculations:</a:t>
            </a:r>
          </a:p>
          <a:p>
            <a:pPr lvl="1"/>
            <a:r>
              <a:rPr lang="en-US" dirty="0"/>
              <a:t>1)Import the csv file </a:t>
            </a:r>
          </a:p>
          <a:p>
            <a:pPr lvl="1"/>
            <a:r>
              <a:rPr lang="en-US" dirty="0"/>
              <a:t>2)Drop unnecessary columns. </a:t>
            </a:r>
          </a:p>
          <a:p>
            <a:pPr lvl="2"/>
            <a:r>
              <a:rPr lang="en-US" dirty="0"/>
              <a:t>Required columns: </a:t>
            </a:r>
            <a:r>
              <a:rPr lang="en-US" dirty="0" err="1"/>
              <a:t>farm_id</a:t>
            </a:r>
            <a:r>
              <a:rPr lang="en-US" dirty="0"/>
              <a:t>, region, </a:t>
            </a:r>
            <a:r>
              <a:rPr lang="en-US" dirty="0" err="1"/>
              <a:t>crop_type</a:t>
            </a:r>
            <a:r>
              <a:rPr lang="en-US" dirty="0"/>
              <a:t>, </a:t>
            </a:r>
            <a:r>
              <a:rPr lang="en-US" dirty="0" err="1"/>
              <a:t>pesticide_usage_ml</a:t>
            </a:r>
            <a:r>
              <a:rPr lang="en-US" dirty="0"/>
              <a:t>, </a:t>
            </a:r>
            <a:r>
              <a:rPr lang="en-US" dirty="0" err="1"/>
              <a:t>yield_kg_per_hectare</a:t>
            </a:r>
            <a:r>
              <a:rPr lang="en-US" dirty="0"/>
              <a:t>, </a:t>
            </a:r>
            <a:r>
              <a:rPr lang="en-US" dirty="0" err="1"/>
              <a:t>crop_disease_status</a:t>
            </a:r>
            <a:endParaRPr lang="en-US" dirty="0"/>
          </a:p>
          <a:p>
            <a:pPr lvl="1"/>
            <a:r>
              <a:rPr lang="en-US" dirty="0"/>
              <a:t>3)Strip Values of Whitespaces </a:t>
            </a:r>
          </a:p>
          <a:p>
            <a:pPr lvl="1"/>
            <a:r>
              <a:rPr lang="en-US" dirty="0"/>
              <a:t>4)Update Null values to meaningful data </a:t>
            </a:r>
          </a:p>
          <a:p>
            <a:pPr lvl="1"/>
            <a:r>
              <a:rPr lang="en-US" dirty="0"/>
              <a:t>5) Save filtered data to a new </a:t>
            </a:r>
            <a:r>
              <a:rPr lang="en-US" dirty="0" err="1"/>
              <a:t>dataframe</a:t>
            </a:r>
            <a:r>
              <a:rPr lang="en-US" dirty="0"/>
              <a:t> </a:t>
            </a:r>
          </a:p>
          <a:p>
            <a:pPr lvl="2"/>
            <a:r>
              <a:rPr lang="en-US" dirty="0"/>
              <a:t>According to the details page of the dataset</a:t>
            </a:r>
          </a:p>
          <a:p>
            <a:pPr lvl="2"/>
            <a:r>
              <a:rPr lang="en-US" dirty="0"/>
              <a:t>Records with </a:t>
            </a:r>
            <a:r>
              <a:rPr lang="en-US" dirty="0" err="1"/>
              <a:t>crop_disease_status</a:t>
            </a:r>
            <a:r>
              <a:rPr lang="en-US" dirty="0"/>
              <a:t> of ”No disease” are set to null </a:t>
            </a:r>
          </a:p>
          <a:p>
            <a:pPr lvl="2"/>
            <a:r>
              <a:rPr lang="en-US" dirty="0"/>
              <a:t>Update all null values for </a:t>
            </a:r>
            <a:r>
              <a:rPr lang="en-US" dirty="0" err="1"/>
              <a:t>crop_disease</a:t>
            </a:r>
            <a:r>
              <a:rPr lang="en-US" dirty="0"/>
              <a:t> status to “None” </a:t>
            </a:r>
          </a:p>
          <a:p>
            <a:pPr lvl="1"/>
            <a:r>
              <a:rPr lang="en-US" dirty="0"/>
              <a:t>6) Any required </a:t>
            </a:r>
            <a:r>
              <a:rPr lang="en-US" dirty="0" err="1"/>
              <a:t>subtables</a:t>
            </a:r>
            <a:r>
              <a:rPr lang="en-US" dirty="0"/>
              <a:t> can be derived from the filtered </a:t>
            </a:r>
            <a:r>
              <a:rPr lang="en-US" dirty="0" err="1"/>
              <a:t>dataframe</a:t>
            </a:r>
            <a:r>
              <a:rPr lang="en-US" dirty="0"/>
              <a:t> </a:t>
            </a:r>
          </a:p>
          <a:p>
            <a:pPr lvl="1"/>
            <a:endParaRPr lang="en-US" dirty="0"/>
          </a:p>
          <a:p>
            <a:pPr lvl="1"/>
            <a:endParaRPr lang="en-US" dirty="0"/>
          </a:p>
          <a:p>
            <a:pPr lvl="1"/>
            <a:endParaRPr lang="en-US" dirty="0"/>
          </a:p>
          <a:p>
            <a:pPr lvl="2"/>
            <a:endParaRPr lang="en-US" dirty="0"/>
          </a:p>
          <a:p>
            <a:endParaRPr lang="en-US" dirty="0"/>
          </a:p>
        </p:txBody>
      </p:sp>
      <p:pic>
        <p:nvPicPr>
          <p:cNvPr id="52" name="Audio 51">
            <a:extLst>
              <a:ext uri="{FF2B5EF4-FFF2-40B4-BE49-F238E27FC236}">
                <a16:creationId xmlns:a16="http://schemas.microsoft.com/office/drawing/2014/main" id="{F57FF1D6-5B58-9DB6-0AB4-7C958AFE9BE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42694733"/>
      </p:ext>
    </p:extLst>
  </p:cSld>
  <p:clrMapOvr>
    <a:masterClrMapping/>
  </p:clrMapOvr>
  <mc:AlternateContent xmlns:mc="http://schemas.openxmlformats.org/markup-compatibility/2006">
    <mc:Choice xmlns:p14="http://schemas.microsoft.com/office/powerpoint/2010/main" Requires="p14">
      <p:transition spd="slow" p14:dur="2000" advTm="92111"/>
    </mc:Choice>
    <mc:Fallback>
      <p:transition spd="slow" advTm="921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21A7-28F1-CA0B-6D1D-E08A09D4968F}"/>
              </a:ext>
            </a:extLst>
          </p:cNvPr>
          <p:cNvSpPr>
            <a:spLocks noGrp="1"/>
          </p:cNvSpPr>
          <p:nvPr>
            <p:ph type="title"/>
          </p:nvPr>
        </p:nvSpPr>
        <p:spPr/>
        <p:txBody>
          <a:bodyPr>
            <a:normAutofit fontScale="90000"/>
          </a:bodyPr>
          <a:lstStyle/>
          <a:p>
            <a:r>
              <a:rPr lang="en-US" dirty="0"/>
              <a:t>Data Wrangling in </a:t>
            </a:r>
            <a:r>
              <a:rPr lang="en-US" dirty="0" err="1"/>
              <a:t>VisualStudioCode</a:t>
            </a:r>
            <a:endParaRPr lang="en-US" dirty="0"/>
          </a:p>
        </p:txBody>
      </p:sp>
      <p:pic>
        <p:nvPicPr>
          <p:cNvPr id="4" name="Content Placeholder 3">
            <a:extLst>
              <a:ext uri="{FF2B5EF4-FFF2-40B4-BE49-F238E27FC236}">
                <a16:creationId xmlns:a16="http://schemas.microsoft.com/office/drawing/2014/main" id="{90DA96F6-61DC-571E-0D66-1DD3310AA09D}"/>
              </a:ext>
            </a:extLst>
          </p:cNvPr>
          <p:cNvPicPr>
            <a:picLocks noGrp="1" noChangeAspect="1"/>
          </p:cNvPicPr>
          <p:nvPr>
            <p:ph idx="1"/>
          </p:nvPr>
        </p:nvPicPr>
        <p:blipFill>
          <a:blip r:embed="rId4"/>
          <a:stretch>
            <a:fillRect/>
          </a:stretch>
        </p:blipFill>
        <p:spPr>
          <a:xfrm>
            <a:off x="5664820" y="803275"/>
            <a:ext cx="4693459" cy="5866824"/>
          </a:xfrm>
          <a:prstGeom prst="rect">
            <a:avLst/>
          </a:prstGeom>
        </p:spPr>
      </p:pic>
      <p:pic>
        <p:nvPicPr>
          <p:cNvPr id="39" name="Audio 38">
            <a:extLst>
              <a:ext uri="{FF2B5EF4-FFF2-40B4-BE49-F238E27FC236}">
                <a16:creationId xmlns:a16="http://schemas.microsoft.com/office/drawing/2014/main" id="{4FC218AE-72C5-59C0-BBC7-C019FD3A1C3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45325045"/>
      </p:ext>
    </p:extLst>
  </p:cSld>
  <p:clrMapOvr>
    <a:masterClrMapping/>
  </p:clrMapOvr>
  <mc:AlternateContent xmlns:mc="http://schemas.openxmlformats.org/markup-compatibility/2006">
    <mc:Choice xmlns:p14="http://schemas.microsoft.com/office/powerpoint/2010/main" Requires="p14">
      <p:transition spd="slow" p14:dur="2000" advTm="21824"/>
    </mc:Choice>
    <mc:Fallback>
      <p:transition spd="slow" advTm="218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3" name="Rectangle 162">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4" name="Group 163">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65"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6"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8"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0"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1"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2"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3"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5"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7"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8"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9"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0"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1"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2"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3"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9624C94A-0D76-75AE-7203-0D26884388D0}"/>
              </a:ext>
            </a:extLst>
          </p:cNvPr>
          <p:cNvSpPr>
            <a:spLocks noGrp="1"/>
          </p:cNvSpPr>
          <p:nvPr>
            <p:ph type="title"/>
          </p:nvPr>
        </p:nvSpPr>
        <p:spPr>
          <a:xfrm>
            <a:off x="888631" y="4760132"/>
            <a:ext cx="3947420" cy="1777829"/>
          </a:xfrm>
        </p:spPr>
        <p:txBody>
          <a:bodyPr>
            <a:normAutofit/>
          </a:bodyPr>
          <a:lstStyle/>
          <a:p>
            <a:pPr algn="l"/>
            <a:r>
              <a:rPr lang="en-US" sz="3100">
                <a:solidFill>
                  <a:schemeClr val="tx1"/>
                </a:solidFill>
              </a:rPr>
              <a:t>Statistical Observations: Data Visualizations </a:t>
            </a:r>
          </a:p>
        </p:txBody>
      </p:sp>
      <p:sp>
        <p:nvSpPr>
          <p:cNvPr id="162" name="Freeform: Shape 161">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1" name="Picture 10" descr="A graph of crops growing&#10;&#10;Description automatically generated">
            <a:extLst>
              <a:ext uri="{FF2B5EF4-FFF2-40B4-BE49-F238E27FC236}">
                <a16:creationId xmlns:a16="http://schemas.microsoft.com/office/drawing/2014/main" id="{32DEC0F4-58BF-5882-5132-76E4058DCC94}"/>
              </a:ext>
            </a:extLst>
          </p:cNvPr>
          <p:cNvPicPr>
            <a:picLocks noChangeAspect="1"/>
          </p:cNvPicPr>
          <p:nvPr/>
        </p:nvPicPr>
        <p:blipFill>
          <a:blip r:embed="rId4"/>
          <a:stretch>
            <a:fillRect/>
          </a:stretch>
        </p:blipFill>
        <p:spPr>
          <a:xfrm>
            <a:off x="241259" y="251174"/>
            <a:ext cx="4370955" cy="2666281"/>
          </a:xfrm>
          <a:prstGeom prst="rect">
            <a:avLst/>
          </a:prstGeom>
        </p:spPr>
      </p:pic>
      <p:pic>
        <p:nvPicPr>
          <p:cNvPr id="5" name="Picture 4" descr="A graph of a growing crop&#10;&#10;Description automatically generated">
            <a:extLst>
              <a:ext uri="{FF2B5EF4-FFF2-40B4-BE49-F238E27FC236}">
                <a16:creationId xmlns:a16="http://schemas.microsoft.com/office/drawing/2014/main" id="{BF4277C8-7044-C8F9-80E8-A33927FC6660}"/>
              </a:ext>
            </a:extLst>
          </p:cNvPr>
          <p:cNvPicPr>
            <a:picLocks noChangeAspect="1"/>
          </p:cNvPicPr>
          <p:nvPr/>
        </p:nvPicPr>
        <p:blipFill rotWithShape="1">
          <a:blip r:embed="rId5"/>
          <a:srcRect t="-3432" r="-3" b="-3"/>
          <a:stretch/>
        </p:blipFill>
        <p:spPr>
          <a:xfrm>
            <a:off x="3974695" y="829463"/>
            <a:ext cx="4145894" cy="2444259"/>
          </a:xfrm>
          <a:prstGeom prst="rect">
            <a:avLst/>
          </a:prstGeom>
        </p:spPr>
      </p:pic>
      <p:pic>
        <p:nvPicPr>
          <p:cNvPr id="39" name="Picture 38" descr="A graph of a growing crop&#10;&#10;Description automatically generated with medium confidence">
            <a:extLst>
              <a:ext uri="{FF2B5EF4-FFF2-40B4-BE49-F238E27FC236}">
                <a16:creationId xmlns:a16="http://schemas.microsoft.com/office/drawing/2014/main" id="{DE7279C4-F655-7BDF-C0E7-D887033EBCA9}"/>
              </a:ext>
            </a:extLst>
          </p:cNvPr>
          <p:cNvPicPr>
            <a:picLocks noChangeAspect="1"/>
          </p:cNvPicPr>
          <p:nvPr/>
        </p:nvPicPr>
        <p:blipFill>
          <a:blip r:embed="rId6"/>
          <a:stretch>
            <a:fillRect/>
          </a:stretch>
        </p:blipFill>
        <p:spPr>
          <a:xfrm>
            <a:off x="8165700" y="762606"/>
            <a:ext cx="3891889" cy="3230268"/>
          </a:xfrm>
          <a:prstGeom prst="rect">
            <a:avLst/>
          </a:prstGeom>
        </p:spPr>
      </p:pic>
      <p:sp>
        <p:nvSpPr>
          <p:cNvPr id="3" name="Content Placeholder 2">
            <a:extLst>
              <a:ext uri="{FF2B5EF4-FFF2-40B4-BE49-F238E27FC236}">
                <a16:creationId xmlns:a16="http://schemas.microsoft.com/office/drawing/2014/main" id="{4913BF89-D2B0-E1C1-C35C-6BA7881A4821}"/>
              </a:ext>
            </a:extLst>
          </p:cNvPr>
          <p:cNvSpPr>
            <a:spLocks noGrp="1"/>
          </p:cNvSpPr>
          <p:nvPr>
            <p:ph idx="1"/>
          </p:nvPr>
        </p:nvSpPr>
        <p:spPr>
          <a:xfrm>
            <a:off x="5118447" y="4767660"/>
            <a:ext cx="6281873" cy="1770300"/>
          </a:xfrm>
        </p:spPr>
        <p:txBody>
          <a:bodyPr>
            <a:normAutofit fontScale="92500" lnSpcReduction="10000"/>
          </a:bodyPr>
          <a:lstStyle/>
          <a:p>
            <a:r>
              <a:rPr lang="en-US" dirty="0"/>
              <a:t>Compares both crop experience criteria requirements individually and combined</a:t>
            </a:r>
          </a:p>
          <a:p>
            <a:r>
              <a:rPr lang="en-US" dirty="0"/>
              <a:t>Created by making different sub-tables from the filtered data frame</a:t>
            </a:r>
          </a:p>
          <a:p>
            <a:r>
              <a:rPr lang="en-US" dirty="0"/>
              <a:t>Graphed and decorated with seaborn </a:t>
            </a:r>
          </a:p>
        </p:txBody>
      </p:sp>
      <p:pic>
        <p:nvPicPr>
          <p:cNvPr id="242" name="Audio 241">
            <a:extLst>
              <a:ext uri="{FF2B5EF4-FFF2-40B4-BE49-F238E27FC236}">
                <a16:creationId xmlns:a16="http://schemas.microsoft.com/office/drawing/2014/main" id="{FBCFC17D-1D38-76BA-AE03-A9CC34273DC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2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24646"/>
    </mc:Choice>
    <mc:Fallback>
      <p:transition spd="slow" advTm="2246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C504D-23A1-9E86-3E35-20A4AE2CBA87}"/>
              </a:ext>
            </a:extLst>
          </p:cNvPr>
          <p:cNvSpPr>
            <a:spLocks noGrp="1"/>
          </p:cNvSpPr>
          <p:nvPr>
            <p:ph type="title"/>
          </p:nvPr>
        </p:nvSpPr>
        <p:spPr/>
        <p:txBody>
          <a:bodyPr/>
          <a:lstStyle/>
          <a:p>
            <a:r>
              <a:rPr lang="en-US" dirty="0"/>
              <a:t>Statistical Testing &amp; Methods</a:t>
            </a:r>
          </a:p>
        </p:txBody>
      </p:sp>
      <p:sp>
        <p:nvSpPr>
          <p:cNvPr id="3" name="Content Placeholder 2">
            <a:extLst>
              <a:ext uri="{FF2B5EF4-FFF2-40B4-BE49-F238E27FC236}">
                <a16:creationId xmlns:a16="http://schemas.microsoft.com/office/drawing/2014/main" id="{3D2EAD47-423A-4E94-212C-DE05451BDAC2}"/>
              </a:ext>
            </a:extLst>
          </p:cNvPr>
          <p:cNvSpPr>
            <a:spLocks noGrp="1"/>
          </p:cNvSpPr>
          <p:nvPr>
            <p:ph idx="1"/>
          </p:nvPr>
        </p:nvSpPr>
        <p:spPr/>
        <p:txBody>
          <a:bodyPr/>
          <a:lstStyle/>
          <a:p>
            <a:r>
              <a:rPr lang="en-US" dirty="0"/>
              <a:t>Data was sorted into different groups based on the conditions derived from the hypothesis </a:t>
            </a:r>
          </a:p>
          <a:p>
            <a:r>
              <a:rPr lang="en-US" dirty="0"/>
              <a:t>To test my hypothesis, I used the z-score method because: the sample of the dataset is a normal to large large-sized sample (209),  is independent with inference on the means, and has a known population variance which fits the requirements of the Z test </a:t>
            </a:r>
          </a:p>
          <a:p>
            <a:r>
              <a:rPr lang="en-US" dirty="0"/>
              <a:t>I did not use ANOVA </a:t>
            </a:r>
            <a:r>
              <a:rPr lang="en-US" dirty="0" err="1"/>
              <a:t>beause</a:t>
            </a:r>
            <a:r>
              <a:rPr lang="en-US" dirty="0"/>
              <a:t> I did not have 3 or more samples to compare </a:t>
            </a:r>
          </a:p>
          <a:p>
            <a:r>
              <a:rPr lang="en-US" dirty="0"/>
              <a:t>I did not use linear regression because part of one determining factors is categorical which is not suitable for the Assumption of Linearity Principle</a:t>
            </a:r>
          </a:p>
        </p:txBody>
      </p:sp>
      <p:pic>
        <p:nvPicPr>
          <p:cNvPr id="95" name="Audio 94">
            <a:extLst>
              <a:ext uri="{FF2B5EF4-FFF2-40B4-BE49-F238E27FC236}">
                <a16:creationId xmlns:a16="http://schemas.microsoft.com/office/drawing/2014/main" id="{438E49BD-EE8D-AFE4-3E9F-E6E1EB8E696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6055724"/>
      </p:ext>
    </p:extLst>
  </p:cSld>
  <p:clrMapOvr>
    <a:masterClrMapping/>
  </p:clrMapOvr>
  <mc:AlternateContent xmlns:mc="http://schemas.openxmlformats.org/markup-compatibility/2006">
    <mc:Choice xmlns:p14="http://schemas.microsoft.com/office/powerpoint/2010/main" Requires="p14">
      <p:transition spd="slow" p14:dur="2000" advTm="45579"/>
    </mc:Choice>
    <mc:Fallback>
      <p:transition spd="slow" advTm="455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0662-6662-4606-F6B3-0A52FE6D5BD7}"/>
              </a:ext>
            </a:extLst>
          </p:cNvPr>
          <p:cNvSpPr>
            <a:spLocks noGrp="1"/>
          </p:cNvSpPr>
          <p:nvPr>
            <p:ph type="title"/>
          </p:nvPr>
        </p:nvSpPr>
        <p:spPr/>
        <p:txBody>
          <a:bodyPr/>
          <a:lstStyle/>
          <a:p>
            <a:r>
              <a:rPr lang="en-US" dirty="0"/>
              <a:t>Key Findings </a:t>
            </a:r>
          </a:p>
        </p:txBody>
      </p:sp>
      <p:sp>
        <p:nvSpPr>
          <p:cNvPr id="3" name="Content Placeholder 2">
            <a:extLst>
              <a:ext uri="{FF2B5EF4-FFF2-40B4-BE49-F238E27FC236}">
                <a16:creationId xmlns:a16="http://schemas.microsoft.com/office/drawing/2014/main" id="{326434EC-F8C9-D8CA-952B-A2D7870C0433}"/>
              </a:ext>
            </a:extLst>
          </p:cNvPr>
          <p:cNvSpPr>
            <a:spLocks noGrp="1"/>
          </p:cNvSpPr>
          <p:nvPr>
            <p:ph idx="1"/>
          </p:nvPr>
        </p:nvSpPr>
        <p:spPr/>
        <p:txBody>
          <a:bodyPr/>
          <a:lstStyle/>
          <a:p>
            <a:r>
              <a:rPr lang="en-US" dirty="0"/>
              <a:t>As the data visualizations show, from my sample of the dataset, the number of c</a:t>
            </a:r>
            <a:r>
              <a:rPr lang="en-US" sz="1800" dirty="0"/>
              <a:t>rops grown within the United States did not experience a greater </a:t>
            </a:r>
            <a:r>
              <a:rPr lang="en-US" dirty="0"/>
              <a:t>number of </a:t>
            </a:r>
            <a:r>
              <a:rPr lang="en-US" sz="1800" dirty="0"/>
              <a:t>both: a crop yield that is at or above the average and a crop disease status of mild or lower (None), when pesticide usage levels were at or above the United States’ average usage level compared to when pesticide usage levels were below the United States’ average usage level</a:t>
            </a:r>
          </a:p>
          <a:p>
            <a:r>
              <a:rPr lang="en-US" dirty="0"/>
              <a:t>This resulted in a rejection of H0. </a:t>
            </a:r>
            <a:endParaRPr lang="en-US" sz="1800" dirty="0"/>
          </a:p>
          <a:p>
            <a:r>
              <a:rPr lang="en-US" dirty="0"/>
              <a:t>The z-score also reflects a rejection of H0. </a:t>
            </a:r>
          </a:p>
          <a:p>
            <a:r>
              <a:rPr lang="en-US" sz="1800" dirty="0"/>
              <a:t>Z-</a:t>
            </a:r>
            <a:r>
              <a:rPr lang="en-US" dirty="0"/>
              <a:t>Critical at a 95% Confidence Level = 1.96, -1.96 </a:t>
            </a:r>
          </a:p>
          <a:p>
            <a:r>
              <a:rPr lang="en-US" sz="1800" dirty="0"/>
              <a:t>Z</a:t>
            </a:r>
            <a:r>
              <a:rPr lang="en-US" dirty="0"/>
              <a:t>-Score = 3.2</a:t>
            </a:r>
          </a:p>
          <a:p>
            <a:r>
              <a:rPr lang="en-US" sz="1800" dirty="0"/>
              <a:t>Since the z-score is within the z-critical, H0 is rejected</a:t>
            </a:r>
          </a:p>
          <a:p>
            <a:endParaRPr lang="en-US" dirty="0"/>
          </a:p>
        </p:txBody>
      </p:sp>
      <p:pic>
        <p:nvPicPr>
          <p:cNvPr id="61" name="Audio 60">
            <a:extLst>
              <a:ext uri="{FF2B5EF4-FFF2-40B4-BE49-F238E27FC236}">
                <a16:creationId xmlns:a16="http://schemas.microsoft.com/office/drawing/2014/main" id="{38C7614A-B874-56AD-3BC3-22094A314BB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38355798"/>
      </p:ext>
    </p:extLst>
  </p:cSld>
  <p:clrMapOvr>
    <a:masterClrMapping/>
  </p:clrMapOvr>
  <mc:AlternateContent xmlns:mc="http://schemas.openxmlformats.org/markup-compatibility/2006">
    <mc:Choice xmlns:p14="http://schemas.microsoft.com/office/powerpoint/2010/main" Requires="p14">
      <p:transition spd="slow" p14:dur="2000" advTm="38264"/>
    </mc:Choice>
    <mc:Fallback>
      <p:transition spd="slow" advTm="3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8934-7F93-F00D-93A6-E8B10819496B}"/>
              </a:ext>
            </a:extLst>
          </p:cNvPr>
          <p:cNvSpPr>
            <a:spLocks noGrp="1"/>
          </p:cNvSpPr>
          <p:nvPr>
            <p:ph type="title"/>
          </p:nvPr>
        </p:nvSpPr>
        <p:spPr/>
        <p:txBody>
          <a:bodyPr/>
          <a:lstStyle/>
          <a:p>
            <a:r>
              <a:rPr lang="en-US" dirty="0"/>
              <a:t>Interpretation, Conclusion, and Next Steps</a:t>
            </a:r>
          </a:p>
        </p:txBody>
      </p:sp>
      <p:sp>
        <p:nvSpPr>
          <p:cNvPr id="3" name="Content Placeholder 2">
            <a:extLst>
              <a:ext uri="{FF2B5EF4-FFF2-40B4-BE49-F238E27FC236}">
                <a16:creationId xmlns:a16="http://schemas.microsoft.com/office/drawing/2014/main" id="{E519808D-5A87-BD24-E90D-9167091BB754}"/>
              </a:ext>
            </a:extLst>
          </p:cNvPr>
          <p:cNvSpPr>
            <a:spLocks noGrp="1"/>
          </p:cNvSpPr>
          <p:nvPr>
            <p:ph idx="1"/>
          </p:nvPr>
        </p:nvSpPr>
        <p:spPr/>
        <p:txBody>
          <a:bodyPr/>
          <a:lstStyle/>
          <a:p>
            <a:r>
              <a:rPr lang="en-US" dirty="0"/>
              <a:t>It must be noted that these findings are based on a simulation and not real-world data </a:t>
            </a:r>
          </a:p>
          <a:p>
            <a:r>
              <a:rPr lang="en-US" dirty="0"/>
              <a:t>Interpretation: Based on the simulated data, the benefits of above average pesticide use on crops towards crop yield and disease status combined is less than no pesticide use. </a:t>
            </a:r>
          </a:p>
          <a:p>
            <a:r>
              <a:rPr lang="en-US" dirty="0"/>
              <a:t>Conclusion: Although the comparison of risk to  benefits of pesticide use on crops is subjective, statistically, they provide fewer benefits than below-average pesticide use. </a:t>
            </a:r>
          </a:p>
          <a:p>
            <a:r>
              <a:rPr lang="en-US" dirty="0"/>
              <a:t>Next Steps: This observation could be further developed by using real-world data and including other factors of comparison</a:t>
            </a:r>
          </a:p>
        </p:txBody>
      </p:sp>
      <p:pic>
        <p:nvPicPr>
          <p:cNvPr id="11" name="Audio 10">
            <a:extLst>
              <a:ext uri="{FF2B5EF4-FFF2-40B4-BE49-F238E27FC236}">
                <a16:creationId xmlns:a16="http://schemas.microsoft.com/office/drawing/2014/main" id="{27B2184D-1B5C-8EA2-4F40-DEDE2756591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03238258"/>
      </p:ext>
    </p:extLst>
  </p:cSld>
  <p:clrMapOvr>
    <a:masterClrMapping/>
  </p:clrMapOvr>
  <mc:AlternateContent xmlns:mc="http://schemas.openxmlformats.org/markup-compatibility/2006">
    <mc:Choice xmlns:p14="http://schemas.microsoft.com/office/powerpoint/2010/main" Requires="p14">
      <p:transition spd="slow" p14:dur="2000" advTm="40894"/>
    </mc:Choice>
    <mc:Fallback>
      <p:transition spd="slow" advTm="408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Atlas</Template>
  <TotalTime>195</TotalTime>
  <Words>889</Words>
  <Application>Microsoft Macintosh PowerPoint</Application>
  <PresentationFormat>Widescreen</PresentationFormat>
  <Paragraphs>58</Paragraphs>
  <Slides>10</Slides>
  <Notes>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 Light</vt:lpstr>
      <vt:lpstr>Rockwell</vt:lpstr>
      <vt:lpstr>Wingdings</vt:lpstr>
      <vt:lpstr>Atlas</vt:lpstr>
      <vt:lpstr>A Comparison of United States Crop Yields and Crop Disease Status Based on Pesticide Usage Levels</vt:lpstr>
      <vt:lpstr>Problem and Motivation</vt:lpstr>
      <vt:lpstr>Research Question &amp; Claims</vt:lpstr>
      <vt:lpstr>Data Sources</vt:lpstr>
      <vt:lpstr>Data Wrangling </vt:lpstr>
      <vt:lpstr>Data Wrangling in VisualStudioCode</vt:lpstr>
      <vt:lpstr>Statistical Observations: Data Visualizations </vt:lpstr>
      <vt:lpstr>Statistical Testing &amp; Methods</vt:lpstr>
      <vt:lpstr>Key Findings </vt:lpstr>
      <vt:lpstr>Interpretation, Conclusion,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Comparison Crop Yields and Crop Disease Status Based on Pesticide Usage Levels</dc:title>
  <dc:creator>yango teemogonwuno</dc:creator>
  <cp:lastModifiedBy>yango teemogonwuno</cp:lastModifiedBy>
  <cp:revision>7</cp:revision>
  <dcterms:created xsi:type="dcterms:W3CDTF">2025-04-29T23:14:28Z</dcterms:created>
  <dcterms:modified xsi:type="dcterms:W3CDTF">2025-04-30T02:29:57Z</dcterms:modified>
</cp:coreProperties>
</file>